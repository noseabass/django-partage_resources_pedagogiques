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E4850C-2091-4D94-A82F-B9DA86107C3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A6DB15-A13A-4587-9891-AD71C5E230E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B4A775-FA4A-4D28-AD0C-12A5586168B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BA28F4-3CFB-48BE-ABD7-AE7411D54CD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C627C7-88A3-4953-AA41-C909584CE18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DDF2D9-00D5-41C6-BF75-DFE9FC99820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Lancer la démo ici. Montrer : connexion étudiant → téléchargement ressource / connexion enseignant → upload / panneau admin.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1D081E-D3EA-460F-87FD-928B3D6131F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838389-C5AE-41E8-BB43-32147E41D25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0F323E-B15F-4851-A2C3-D75BB267C92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2920" cy="5364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40080" y="1005840"/>
            <a:ext cx="7862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4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PROJET DJANGO — 2025 · 2026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640080" y="1463040"/>
            <a:ext cx="78627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UniShare</a:t>
            </a:r>
            <a:endParaRPr b="0" lang="en-US" sz="7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640080" y="2743200"/>
            <a:ext cx="7862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Plateforme de partage de ressources pédagogiques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200400" y="3337560"/>
            <a:ext cx="2743200" cy="360"/>
          </a:xfrm>
          <a:prstGeom prst="line">
            <a:avLst/>
          </a:prstGeom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40080" y="3566160"/>
            <a:ext cx="78627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Mame Diarra Ngome  ·  Papa Ibrahima Diop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40080" y="3931920"/>
            <a:ext cx="786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Encadrant : Dr N. Bame  |  Section Informatique — L3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02920" y="201240"/>
            <a:ext cx="822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00" strike="noStrike" u="none">
                <a:solidFill>
                  <a:srgbClr val="1abc9c"/>
                </a:solidFill>
                <a:effectLst/>
                <a:uFillTx/>
                <a:latin typeface="Calibri"/>
              </a:rPr>
              <a:t>CONTEXTE &amp; PROBLÉMATIQUE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530280"/>
            <a:ext cx="7771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d40"/>
                </a:solidFill>
                <a:effectLst/>
                <a:uFillTx/>
                <a:latin typeface="Cambria"/>
                <a:ea typeface="Cambria"/>
              </a:rPr>
              <a:t>D'où vient UniShare ?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502920" y="1261800"/>
            <a:ext cx="8138160" cy="360"/>
          </a:xfrm>
          <a:prstGeom prst="line">
            <a:avLst/>
          </a:prstGeom>
          <a:ln w="9525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365760" y="1417320"/>
            <a:ext cx="2650680" cy="3290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548640" y="16002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📁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02920" y="2240280"/>
            <a:ext cx="237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Ressources éparpillées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502920" y="2670120"/>
            <a:ext cx="237636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Les cours, TDs et annonces étaient partagés par mail ou clé USB, sans organisation centralisée.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200400" y="1417320"/>
            <a:ext cx="2650680" cy="3290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3383280" y="16002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🔐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3337560" y="2240280"/>
            <a:ext cx="237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Aucun contrôle d'accès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3337560" y="2670120"/>
            <a:ext cx="237636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N'importe qui pouvait accéder à n'importe quoi — ou au contraire être bloqué sans raison.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035040" y="1417320"/>
            <a:ext cx="2650680" cy="3290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6217920" y="160020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🎯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172200" y="2240280"/>
            <a:ext cx="237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La mission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4"/>
          <p:cNvSpPr/>
          <p:nvPr/>
        </p:nvSpPr>
        <p:spPr>
          <a:xfrm>
            <a:off x="6172200" y="2670120"/>
            <a:ext cx="237636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Créer une plateforme unique, sécurisée, avec des rôles distincts : étudiant, enseignant, responsable, admin.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201240"/>
            <a:ext cx="822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00" strike="noStrike" u="none">
                <a:solidFill>
                  <a:srgbClr val="1abc9c"/>
                </a:solidFill>
                <a:effectLst/>
                <a:uFillTx/>
                <a:latin typeface="Calibri"/>
              </a:rPr>
              <a:t>OBJECTIFS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02920" y="530280"/>
            <a:ext cx="7771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d40"/>
                </a:solidFill>
                <a:effectLst/>
                <a:uFillTx/>
                <a:latin typeface="Cambria"/>
                <a:ea typeface="Cambria"/>
              </a:rPr>
              <a:t>Présenation de la platfome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02920" y="1261800"/>
            <a:ext cx="8138160" cy="360"/>
          </a:xfrm>
          <a:prstGeom prst="line">
            <a:avLst/>
          </a:prstGeom>
          <a:ln w="9525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365760" y="1417320"/>
            <a:ext cx="4113720" cy="3382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548640" y="1554480"/>
            <a:ext cx="3747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Les rôles de la plateforme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548640" y="201168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👤 Étudiant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6"/>
          <p:cNvSpPr/>
          <p:nvPr/>
        </p:nvSpPr>
        <p:spPr>
          <a:xfrm>
            <a:off x="548640" y="228600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Consulter, rechercher, télécharger les ressources de sa classe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548640" y="269748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📚 Enseignant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548640" y="297180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Déposer ses ressources, voir l'historique d'accès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9"/>
          <p:cNvSpPr/>
          <p:nvPr/>
        </p:nvSpPr>
        <p:spPr>
          <a:xfrm>
            <a:off x="548640" y="338328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🏫 Responsable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0"/>
          <p:cNvSpPr/>
          <p:nvPr/>
        </p:nvSpPr>
        <p:spPr>
          <a:xfrm>
            <a:off x="548640" y="365760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Gérer modules, étudiants et annonces de sa classe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548640" y="406908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⚙️ Administrateur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2"/>
          <p:cNvSpPr/>
          <p:nvPr/>
        </p:nvSpPr>
        <p:spPr>
          <a:xfrm>
            <a:off x="548640" y="434340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Gérer utilisateurs, classes et affectations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3"/>
          <p:cNvSpPr/>
          <p:nvPr/>
        </p:nvSpPr>
        <p:spPr>
          <a:xfrm>
            <a:off x="4754880" y="1417320"/>
            <a:ext cx="4022280" cy="3382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4937760" y="1554480"/>
            <a:ext cx="3656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Exigences transversales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4937760" y="2011680"/>
            <a:ext cx="3565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🔒  Authentification &amp; vérification de rôle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6"/>
          <p:cNvSpPr/>
          <p:nvPr/>
        </p:nvSpPr>
        <p:spPr>
          <a:xfrm>
            <a:off x="4937760" y="2560320"/>
            <a:ext cx="3565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📝  Contrôle de saisie sur tous les formulaires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4937760" y="3108960"/>
            <a:ext cx="3565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🖥️  Interface dynamique selon le rôle connecté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8"/>
          <p:cNvSpPr/>
          <p:nvPr/>
        </p:nvSpPr>
        <p:spPr>
          <a:xfrm>
            <a:off x="4937760" y="3657600"/>
            <a:ext cx="3565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📂  Upload et téléchargement de fichiers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9"/>
          <p:cNvSpPr/>
          <p:nvPr/>
        </p:nvSpPr>
        <p:spPr>
          <a:xfrm>
            <a:off x="4937760" y="4206240"/>
            <a:ext cx="3565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📣  Gestion des annonces par classe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" descr=""/>
          <p:cNvPicPr/>
          <p:nvPr/>
        </p:nvPicPr>
        <p:blipFill>
          <a:blip r:embed="rId1"/>
          <a:stretch/>
        </p:blipFill>
        <p:spPr>
          <a:xfrm>
            <a:off x="1168560" y="720"/>
            <a:ext cx="6796080" cy="514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" descr=""/>
          <p:cNvPicPr/>
          <p:nvPr/>
        </p:nvPicPr>
        <p:blipFill>
          <a:blip r:embed="rId1"/>
          <a:stretch/>
        </p:blipFill>
        <p:spPr>
          <a:xfrm>
            <a:off x="228600" y="0"/>
            <a:ext cx="8686080" cy="513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502920" y="201240"/>
            <a:ext cx="822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00" strike="noStrike" u="none">
                <a:solidFill>
                  <a:srgbClr val="1abc9c"/>
                </a:solidFill>
                <a:effectLst/>
                <a:uFillTx/>
                <a:latin typeface="Calibri"/>
              </a:rPr>
              <a:t>ARCHITECTURE TECHNIQUE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02920" y="530280"/>
            <a:ext cx="7771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d40"/>
                </a:solidFill>
                <a:effectLst/>
                <a:uFillTx/>
                <a:latin typeface="Cambria"/>
                <a:ea typeface="Cambria"/>
              </a:rPr>
              <a:t>Stack &amp; structure du projet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502920" y="1261800"/>
            <a:ext cx="8138160" cy="360"/>
          </a:xfrm>
          <a:prstGeom prst="line">
            <a:avLst/>
          </a:prstGeom>
          <a:ln w="9525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365760" y="1417320"/>
            <a:ext cx="3930840" cy="3382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48640" y="157284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Technologies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548640" y="1965960"/>
            <a:ext cx="35650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🐍 Python / Django 6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548640" y="2221920"/>
            <a:ext cx="35650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Architecture MVC, vues, formulaires, ORM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548640" y="2514600"/>
            <a:ext cx="35650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🐘 PostgreSQL 17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548640" y="2770560"/>
            <a:ext cx="35650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Base de données relationnelle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548640" y="3063240"/>
            <a:ext cx="35650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🎨 Bootstrap 5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548640" y="3319200"/>
            <a:ext cx="35650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Interface responsive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548640" y="3611880"/>
            <a:ext cx="35650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🔧 Git / GitHub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548640" y="3867840"/>
            <a:ext cx="35650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Contrôle de versions, travail en équipe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3"/>
          <p:cNvSpPr/>
          <p:nvPr/>
        </p:nvSpPr>
        <p:spPr>
          <a:xfrm>
            <a:off x="548640" y="4160520"/>
            <a:ext cx="35650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bc9c"/>
                </a:solidFill>
                <a:effectLst/>
                <a:uFillTx/>
                <a:latin typeface="Calibri"/>
                <a:ea typeface="Calibri"/>
              </a:rPr>
              <a:t>📦 Pillow, dotenv…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48640" y="4416480"/>
            <a:ext cx="35650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Gestion images &amp; configuration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5"/>
          <p:cNvSpPr/>
          <p:nvPr/>
        </p:nvSpPr>
        <p:spPr>
          <a:xfrm>
            <a:off x="4526280" y="1417320"/>
            <a:ext cx="4250880" cy="33822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4709160" y="1572840"/>
            <a:ext cx="3839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Structure du projet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7"/>
          <p:cNvSpPr/>
          <p:nvPr/>
        </p:nvSpPr>
        <p:spPr>
          <a:xfrm>
            <a:off x="4754880" y="199332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2c3e50"/>
                </a:solidFill>
                <a:effectLst/>
                <a:uFillTx/>
                <a:latin typeface="Courier New"/>
                <a:ea typeface="Courier New"/>
              </a:rPr>
              <a:t>src/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8"/>
          <p:cNvSpPr/>
          <p:nvPr/>
        </p:nvSpPr>
        <p:spPr>
          <a:xfrm>
            <a:off x="4983480" y="232272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d6d7e"/>
                </a:solidFill>
                <a:effectLst/>
                <a:uFillTx/>
                <a:latin typeface="Courier New"/>
                <a:ea typeface="Courier New"/>
              </a:rPr>
              <a:t>uni_share/        ← settings, config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4983480" y="265176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abc9c"/>
                </a:solidFill>
                <a:effectLst/>
                <a:uFillTx/>
                <a:latin typeface="Courier New"/>
                <a:ea typeface="Courier New"/>
              </a:rPr>
              <a:t>core/             ← tous les modèles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4983480" y="298080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d6d7e"/>
                </a:solidFill>
                <a:effectLst/>
                <a:uFillTx/>
                <a:latin typeface="Courier New"/>
                <a:ea typeface="Courier New"/>
              </a:rPr>
              <a:t>authentification/ ← login/logout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4983480" y="331020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d6d7e"/>
                </a:solidFill>
                <a:effectLst/>
                <a:uFillTx/>
                <a:latin typeface="Courier New"/>
                <a:ea typeface="Courier New"/>
              </a:rPr>
              <a:t>utilisateurs/     ← vues étudiants &amp; profs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2"/>
          <p:cNvSpPr/>
          <p:nvPr/>
        </p:nvSpPr>
        <p:spPr>
          <a:xfrm>
            <a:off x="4983480" y="363924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d6d7e"/>
                </a:solidFill>
                <a:effectLst/>
                <a:uFillTx/>
                <a:latin typeface="Courier New"/>
                <a:ea typeface="Courier New"/>
              </a:rPr>
              <a:t>administrateur/   ← panneau admin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3"/>
          <p:cNvSpPr/>
          <p:nvPr/>
        </p:nvSpPr>
        <p:spPr>
          <a:xfrm>
            <a:off x="4983480" y="396864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d6d7e"/>
                </a:solidFill>
                <a:effectLst/>
                <a:uFillTx/>
                <a:latin typeface="Courier New"/>
                <a:ea typeface="Courier New"/>
              </a:rPr>
              <a:t>templates/  static/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4"/>
          <p:cNvSpPr/>
          <p:nvPr/>
        </p:nvSpPr>
        <p:spPr>
          <a:xfrm>
            <a:off x="4983480" y="4297680"/>
            <a:ext cx="3839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d6d7e"/>
                </a:solidFill>
                <a:effectLst/>
                <a:uFillTx/>
                <a:latin typeface="Courier New"/>
                <a:ea typeface="Courier New"/>
              </a:rPr>
              <a:t>manage.py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502920" y="201240"/>
            <a:ext cx="822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00" strike="noStrike" u="none">
                <a:solidFill>
                  <a:srgbClr val="1abc9c"/>
                </a:solidFill>
                <a:effectLst/>
                <a:uFillTx/>
                <a:latin typeface="Calibri"/>
              </a:rPr>
              <a:t>DÉFIS TECHNIQUES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502920" y="530280"/>
            <a:ext cx="7771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e2d40"/>
                </a:solidFill>
                <a:effectLst/>
                <a:uFillTx/>
                <a:latin typeface="Cambria"/>
                <a:ea typeface="Cambria"/>
              </a:rPr>
              <a:t>Problèmes rencontrés… et résolus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"/>
          <p:cNvSpPr/>
          <p:nvPr/>
        </p:nvSpPr>
        <p:spPr>
          <a:xfrm>
            <a:off x="502920" y="1261800"/>
            <a:ext cx="8138160" cy="360"/>
          </a:xfrm>
          <a:prstGeom prst="line">
            <a:avLst/>
          </a:prstGeom>
          <a:ln w="9525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3"/>
          <p:cNvSpPr/>
          <p:nvPr/>
        </p:nvSpPr>
        <p:spPr>
          <a:xfrm>
            <a:off x="365760" y="1417320"/>
            <a:ext cx="8411400" cy="80352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548640" y="149040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🔄  Dépendances circulaires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5"/>
          <p:cNvSpPr/>
          <p:nvPr/>
        </p:nvSpPr>
        <p:spPr>
          <a:xfrm>
            <a:off x="3657600" y="1490400"/>
            <a:ext cx="4936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On a créé l'application core pour centraliser tous les modèles partagés. Résultat : plus aucun conflit entre les apps.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6"/>
          <p:cNvSpPr/>
          <p:nvPr/>
        </p:nvSpPr>
        <p:spPr>
          <a:xfrm>
            <a:off x="3520440" y="1526760"/>
            <a:ext cx="360" cy="594360"/>
          </a:xfrm>
          <a:prstGeom prst="line">
            <a:avLst/>
          </a:prstGeom>
          <a:ln w="12700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7"/>
          <p:cNvSpPr/>
          <p:nvPr/>
        </p:nvSpPr>
        <p:spPr>
          <a:xfrm>
            <a:off x="365760" y="2313360"/>
            <a:ext cx="8411400" cy="80352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8"/>
          <p:cNvSpPr/>
          <p:nvPr/>
        </p:nvSpPr>
        <p:spPr>
          <a:xfrm>
            <a:off x="548640" y="238644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🔐  Sécurisation des accès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3657600" y="2386440"/>
            <a:ext cx="4936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Implémentation rigoureuse des décorateurs Django afin de restreindre les routes critiques et de garantir que seul l'administrateur puisse accéder aux fonctions de supervision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0"/>
          <p:cNvSpPr/>
          <p:nvPr/>
        </p:nvSpPr>
        <p:spPr>
          <a:xfrm>
            <a:off x="3520440" y="2423160"/>
            <a:ext cx="360" cy="594360"/>
          </a:xfrm>
          <a:prstGeom prst="line">
            <a:avLst/>
          </a:prstGeom>
          <a:ln w="12700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1"/>
          <p:cNvSpPr/>
          <p:nvPr/>
        </p:nvSpPr>
        <p:spPr>
          <a:xfrm>
            <a:off x="365760" y="3209400"/>
            <a:ext cx="8411400" cy="80352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2"/>
          <p:cNvSpPr/>
          <p:nvPr/>
        </p:nvSpPr>
        <p:spPr>
          <a:xfrm>
            <a:off x="548640" y="328284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💬  Gestion des messages flash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3"/>
          <p:cNvSpPr/>
          <p:nvPr/>
        </p:nvSpPr>
        <p:spPr>
          <a:xfrm>
            <a:off x="3657600" y="3282840"/>
            <a:ext cx="4936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django.contrib.messages remplacé par une variable feedback locale injectée dans le contexte — plus simple à contrôler.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4"/>
          <p:cNvSpPr/>
          <p:nvPr/>
        </p:nvSpPr>
        <p:spPr>
          <a:xfrm>
            <a:off x="3520440" y="3319200"/>
            <a:ext cx="360" cy="594360"/>
          </a:xfrm>
          <a:prstGeom prst="line">
            <a:avLst/>
          </a:prstGeom>
          <a:ln w="12700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9142920" cy="5364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0" y="1280160"/>
            <a:ext cx="9142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▶</a:t>
            </a:r>
            <a:endParaRPr b="0" lang="en-US" sz="6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2468880"/>
            <a:ext cx="786276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Démonstration</a:t>
            </a:r>
            <a:endParaRPr b="0" lang="en-US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640080" y="3291840"/>
            <a:ext cx="7862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Présentation en direct de la plateforme UniShare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502920" y="201240"/>
            <a:ext cx="82285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300" strike="noStrike" u="none">
                <a:solidFill>
                  <a:srgbClr val="1abc9c"/>
                </a:solidFill>
                <a:effectLst/>
                <a:uFillTx/>
                <a:latin typeface="Calibri"/>
              </a:rPr>
              <a:t>RÉSULTATS &amp; PERSPECTIVES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02920" y="530280"/>
            <a:ext cx="7771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000" strike="noStrike" u="none">
                <a:solidFill>
                  <a:srgbClr val="1e2d40"/>
                </a:solidFill>
                <a:effectLst/>
                <a:uFillTx/>
                <a:latin typeface="Cambria"/>
                <a:ea typeface="Cambria"/>
              </a:rPr>
              <a:t>Perspectives futures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"/>
          <p:cNvSpPr/>
          <p:nvPr/>
        </p:nvSpPr>
        <p:spPr>
          <a:xfrm>
            <a:off x="502920" y="1261800"/>
            <a:ext cx="8138160" cy="360"/>
          </a:xfrm>
          <a:prstGeom prst="line">
            <a:avLst/>
          </a:prstGeom>
          <a:ln w="9525">
            <a:solidFill>
              <a:srgbClr val="d5d8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9"/>
          <p:cNvSpPr/>
          <p:nvPr/>
        </p:nvSpPr>
        <p:spPr>
          <a:xfrm>
            <a:off x="275040" y="1828800"/>
            <a:ext cx="8411400" cy="2057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5d8dc"/>
            </a:solidFill>
            <a:round/>
          </a:ln>
          <a:effectLst>
            <a:outerShdw algn="bl" blurRad="101520" dir="27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412200" y="2195280"/>
            <a:ext cx="8045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503640" y="2223000"/>
            <a:ext cx="79542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🔔  Notifications par mail à chaque nouvelle ressource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503640" y="2806560"/>
            <a:ext cx="79542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⚡  API REST (Django REST Framework) pour exposer les données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503640" y="3098520"/>
            <a:ext cx="79542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⚛️  Front-end React pour une expérience plus dynamique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5"/>
          <p:cNvSpPr/>
          <p:nvPr/>
        </p:nvSpPr>
        <p:spPr>
          <a:xfrm>
            <a:off x="503640" y="2514600"/>
            <a:ext cx="79542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💬</a:t>
            </a:r>
            <a:r>
              <a:rPr b="0" lang="en-US" sz="1150" strike="noStrike" u="none">
                <a:solidFill>
                  <a:srgbClr val="5d6d7e"/>
                </a:solidFill>
                <a:effectLst/>
                <a:uFillTx/>
                <a:latin typeface="Calibri"/>
                <a:ea typeface="Calibri"/>
              </a:rPr>
              <a:t>  Possibilité de commenter sous les ressources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9142920" cy="5364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640080" y="1188720"/>
            <a:ext cx="786276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Merci pour votre attention</a:t>
            </a:r>
            <a:endParaRPr b="0" lang="en-US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3200400" y="2148840"/>
            <a:ext cx="2743200" cy="360"/>
          </a:xfrm>
          <a:prstGeom prst="line">
            <a:avLst/>
          </a:prstGeom>
          <a:ln w="127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640080" y="2331720"/>
            <a:ext cx="7862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Des questions ?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640080" y="3291840"/>
            <a:ext cx="78627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Mame Diarra Ngome  ·  Papa Ibrahima Diop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640080" y="3703320"/>
            <a:ext cx="786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5a5a6"/>
                </a:solidFill>
                <a:effectLst/>
                <a:uFillTx/>
                <a:latin typeface="Calibri"/>
                <a:ea typeface="Calibri"/>
              </a:rPr>
              <a:t>Encadrant : Dr N. Bame  |  Section Informatique — L3  |  2025-2026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</TotalTime>
  <Application>LibreOffice/25.2.6.2$Linux_X86_64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2026-06-13T12:14:23Z</dcterms:created>
  <dc:creator>PptxGenJS</dc:creator>
  <dc:description/>
  <dc:language>en-US</dc:language>
  <cp:lastModifiedBy>Papa Ibrahima Diop</cp:lastModifiedBy>
  <dcterms:modified xsi:type="dcterms:W3CDTF">2026-06-15T06:10:56Z</dcterms:modified>
  <cp:revision>6</cp:revision>
  <dc:subject>PptxGenJS Presentation</dc:subject>
  <dc:title>UniShare – Projet Django 2025-2026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