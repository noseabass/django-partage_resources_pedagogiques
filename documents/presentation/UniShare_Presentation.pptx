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B1DB076-066C-425D-8252-A033D5A6B0D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783080-B9F0-455B-BC49-10C0E08A8C0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02872D-F94C-4173-A570-3F3495277C6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C93157-EEC6-40D4-A75A-7233F883F3A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08EF66-DF8E-40CB-A710-65F55790F86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51D708-F8B9-4F6B-82FB-DEDF8B2C97A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Lancer la démo ici. Montrer : connexion étudiant → téléchargement ressource / connexion enseignant → upload / panneau admin.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2C90DA-0D3E-4A37-8039-78B78F490D7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969391-CA88-4A76-AB0E-7D9D38A382E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17740C-6B9E-4F2A-95A8-282499FC90A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6B4FF4-A1D0-4ECE-A37C-6FA8155685E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40080" y="100584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400" strike="noStrike" u="none">
                <a:solidFill>
                  <a:srgbClr val="95a5a6"/>
                </a:solidFill>
                <a:effectLst/>
                <a:uFillTx/>
                <a:latin typeface="Calibri"/>
                <a:ea typeface="Calibri"/>
              </a:rPr>
              <a:t>PROJET DJANGO — 2025 · 2026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0080" y="1463040"/>
            <a:ext cx="7863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UniShare</a:t>
            </a:r>
            <a:endParaRPr b="0" lang="en-US" sz="7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27432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95a5a6"/>
                </a:solidFill>
                <a:effectLst/>
                <a:uFillTx/>
                <a:latin typeface="Calibri"/>
                <a:ea typeface="Calibri"/>
              </a:rPr>
              <a:t>Plateforme de partage de ressources pédagogiques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3200400" y="3337560"/>
            <a:ext cx="2743200" cy="360"/>
          </a:xfrm>
          <a:prstGeom prst="line">
            <a:avLst/>
          </a:prstGeom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40080" y="35661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95a5a6"/>
                </a:solidFill>
                <a:effectLst/>
                <a:uFillTx/>
                <a:latin typeface="Calibri"/>
                <a:ea typeface="Calibri"/>
              </a:rPr>
              <a:t>Mame Diarra Ngome  ·  Papa Ibrahima Diop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40080" y="393192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95a5a6"/>
                </a:solidFill>
                <a:effectLst/>
                <a:uFillTx/>
                <a:latin typeface="Calibri"/>
                <a:ea typeface="Calibri"/>
              </a:rPr>
              <a:t>Encadrant : Dr N. Bame  |  Section Informatique — L3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02920" y="20124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1abc9c"/>
                </a:solidFill>
                <a:effectLst/>
                <a:uFillTx/>
                <a:latin typeface="Calibri"/>
              </a:rPr>
              <a:t>CONTEXTE &amp; PROBLÉMATIQUE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502920" y="5302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d40"/>
                </a:solidFill>
                <a:effectLst/>
                <a:uFillTx/>
                <a:latin typeface="Cambria"/>
                <a:ea typeface="Cambria"/>
              </a:rPr>
              <a:t>D'où vient UniShare 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502920" y="1261800"/>
            <a:ext cx="8138160" cy="360"/>
          </a:xfrm>
          <a:prstGeom prst="line">
            <a:avLst/>
          </a:prstGeom>
          <a:ln w="9525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365760" y="1417320"/>
            <a:ext cx="2651400" cy="3291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548640" y="16002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📁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502920" y="22402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Ressources éparpillées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502920" y="2670120"/>
            <a:ext cx="23770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Les cours, TDs et annonces étaient partagés par mail ou clé USB, sans organisation centralisée.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3200400" y="1417320"/>
            <a:ext cx="2651400" cy="3291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3383280" y="16002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🔐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3337560" y="22402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Aucun contrôle d'accès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3337560" y="2670120"/>
            <a:ext cx="23770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N'importe qui pouvait accéder à n'importe quoi — ou au contraire être bloqué sans raison.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1"/>
          <p:cNvSpPr/>
          <p:nvPr/>
        </p:nvSpPr>
        <p:spPr>
          <a:xfrm>
            <a:off x="6035040" y="1417320"/>
            <a:ext cx="2651400" cy="3291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6217920" y="16002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🎯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6172200" y="22402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La mission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6172200" y="2670120"/>
            <a:ext cx="23770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Créer une plateforme unique, sécurisée, avec des rôles distincts : étudiant, enseignant, responsable, admin.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502920" y="20124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1abc9c"/>
                </a:solidFill>
                <a:effectLst/>
                <a:uFillTx/>
                <a:latin typeface="Calibri"/>
              </a:rPr>
              <a:t>OBJECTIFS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502920" y="5302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d40"/>
                </a:solidFill>
                <a:effectLst/>
                <a:uFillTx/>
                <a:latin typeface="Cambria"/>
                <a:ea typeface="Cambria"/>
              </a:rPr>
              <a:t>Ce qu'on devait livrer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"/>
          <p:cNvSpPr/>
          <p:nvPr/>
        </p:nvSpPr>
        <p:spPr>
          <a:xfrm>
            <a:off x="502920" y="1261800"/>
            <a:ext cx="8138160" cy="360"/>
          </a:xfrm>
          <a:prstGeom prst="line">
            <a:avLst/>
          </a:prstGeom>
          <a:ln w="9525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365760" y="1417320"/>
            <a:ext cx="4114440" cy="33829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548640" y="155448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Les rôles de la plateforme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548640" y="20116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bc9c"/>
                </a:solidFill>
                <a:effectLst/>
                <a:uFillTx/>
                <a:latin typeface="Calibri"/>
                <a:ea typeface="Calibri"/>
              </a:rPr>
              <a:t>👤 Étudiant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548640" y="22860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Consulter, rechercher, télécharger les ressources de sa classe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548640" y="26974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bc9c"/>
                </a:solidFill>
                <a:effectLst/>
                <a:uFillTx/>
                <a:latin typeface="Calibri"/>
                <a:ea typeface="Calibri"/>
              </a:rPr>
              <a:t>📚 Enseignant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548640" y="29718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Déposer ses ressources, voir l'historique d'accès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548640" y="33832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bc9c"/>
                </a:solidFill>
                <a:effectLst/>
                <a:uFillTx/>
                <a:latin typeface="Calibri"/>
                <a:ea typeface="Calibri"/>
              </a:rPr>
              <a:t>🏫 Responsable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548640" y="36576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Gérer modules, étudiants et annonces de sa classe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548640" y="4069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bc9c"/>
                </a:solidFill>
                <a:effectLst/>
                <a:uFillTx/>
                <a:latin typeface="Calibri"/>
                <a:ea typeface="Calibri"/>
              </a:rPr>
              <a:t>⚙️ Administrateur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548640" y="43434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Gérer utilisateurs, classes et affectations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3"/>
          <p:cNvSpPr/>
          <p:nvPr/>
        </p:nvSpPr>
        <p:spPr>
          <a:xfrm>
            <a:off x="4754880" y="1417320"/>
            <a:ext cx="4023000" cy="33829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4937760" y="15544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Exigences transversales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4937760" y="201168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🔒  Authentification &amp; vérification de rôle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4937760" y="256032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📝  Contrôle de saisie sur tous les formulaires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4937760" y="310896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🖥️  Interface dynamique selon le rôle connecté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4937760" y="365760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📂  Upload et téléchargement de fichiers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4937760" y="420624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📣  Gestion des annonces par classe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1371600" y="61200"/>
            <a:ext cx="6172200" cy="508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228600" y="0"/>
            <a:ext cx="8686800" cy="513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02920" y="20124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1abc9c"/>
                </a:solidFill>
                <a:effectLst/>
                <a:uFillTx/>
                <a:latin typeface="Calibri"/>
              </a:rPr>
              <a:t>ARCHITECTURE TECHNIQUE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502920" y="5302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d40"/>
                </a:solidFill>
                <a:effectLst/>
                <a:uFillTx/>
                <a:latin typeface="Cambria"/>
                <a:ea typeface="Cambria"/>
              </a:rPr>
              <a:t>Stack &amp; structure du projet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502920" y="1261800"/>
            <a:ext cx="8138160" cy="360"/>
          </a:xfrm>
          <a:prstGeom prst="line">
            <a:avLst/>
          </a:prstGeom>
          <a:ln w="9525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365760" y="1417320"/>
            <a:ext cx="3931560" cy="33829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548640" y="157284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Technologies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548640" y="196596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bc9c"/>
                </a:solidFill>
                <a:effectLst/>
                <a:uFillTx/>
                <a:latin typeface="Calibri"/>
                <a:ea typeface="Calibri"/>
              </a:rPr>
              <a:t>🐍 Python / Django 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548640" y="2221920"/>
            <a:ext cx="356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Architecture MVC, vues, formulaires, ORM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548640" y="251460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bc9c"/>
                </a:solidFill>
                <a:effectLst/>
                <a:uFillTx/>
                <a:latin typeface="Calibri"/>
                <a:ea typeface="Calibri"/>
              </a:rPr>
              <a:t>🐘 PostgreSQL 17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548640" y="2770560"/>
            <a:ext cx="356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Base de données relationnelle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548640" y="306324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bc9c"/>
                </a:solidFill>
                <a:effectLst/>
                <a:uFillTx/>
                <a:latin typeface="Calibri"/>
                <a:ea typeface="Calibri"/>
              </a:rPr>
              <a:t>🎨 Bootstrap 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548640" y="3319200"/>
            <a:ext cx="356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Interface responsive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548640" y="361188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bc9c"/>
                </a:solidFill>
                <a:effectLst/>
                <a:uFillTx/>
                <a:latin typeface="Calibri"/>
                <a:ea typeface="Calibri"/>
              </a:rPr>
              <a:t>🔧 Git / GitHub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548640" y="3867840"/>
            <a:ext cx="356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Contrôle de versions, travail en équipe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548640" y="416052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bc9c"/>
                </a:solidFill>
                <a:effectLst/>
                <a:uFillTx/>
                <a:latin typeface="Calibri"/>
                <a:ea typeface="Calibri"/>
              </a:rPr>
              <a:t>📦 Pillow, dotenv…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4"/>
          <p:cNvSpPr/>
          <p:nvPr/>
        </p:nvSpPr>
        <p:spPr>
          <a:xfrm>
            <a:off x="548640" y="4416480"/>
            <a:ext cx="356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Gestion images &amp; configuration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5"/>
          <p:cNvSpPr/>
          <p:nvPr/>
        </p:nvSpPr>
        <p:spPr>
          <a:xfrm>
            <a:off x="4526280" y="1417320"/>
            <a:ext cx="4251600" cy="33829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6"/>
          <p:cNvSpPr/>
          <p:nvPr/>
        </p:nvSpPr>
        <p:spPr>
          <a:xfrm>
            <a:off x="4709160" y="15728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Structure du projet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7"/>
          <p:cNvSpPr/>
          <p:nvPr/>
        </p:nvSpPr>
        <p:spPr>
          <a:xfrm>
            <a:off x="4754880" y="1993320"/>
            <a:ext cx="3840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c3e50"/>
                </a:solidFill>
                <a:effectLst/>
                <a:uFillTx/>
                <a:latin typeface="Courier New"/>
                <a:ea typeface="Courier New"/>
              </a:rPr>
              <a:t>src/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8"/>
          <p:cNvSpPr/>
          <p:nvPr/>
        </p:nvSpPr>
        <p:spPr>
          <a:xfrm>
            <a:off x="4983480" y="2322720"/>
            <a:ext cx="3840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d6d7e"/>
                </a:solidFill>
                <a:effectLst/>
                <a:uFillTx/>
                <a:latin typeface="Courier New"/>
                <a:ea typeface="Courier New"/>
              </a:rPr>
              <a:t>uni_share/        ← settings, config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9"/>
          <p:cNvSpPr/>
          <p:nvPr/>
        </p:nvSpPr>
        <p:spPr>
          <a:xfrm>
            <a:off x="4983480" y="2651760"/>
            <a:ext cx="3840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abc9c"/>
                </a:solidFill>
                <a:effectLst/>
                <a:uFillTx/>
                <a:latin typeface="Courier New"/>
                <a:ea typeface="Courier New"/>
              </a:rPr>
              <a:t>core/             ← tous les modèles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0"/>
          <p:cNvSpPr/>
          <p:nvPr/>
        </p:nvSpPr>
        <p:spPr>
          <a:xfrm>
            <a:off x="4983480" y="2980800"/>
            <a:ext cx="3840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d6d7e"/>
                </a:solidFill>
                <a:effectLst/>
                <a:uFillTx/>
                <a:latin typeface="Courier New"/>
                <a:ea typeface="Courier New"/>
              </a:rPr>
              <a:t>authentification/ ← login/logout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1"/>
          <p:cNvSpPr/>
          <p:nvPr/>
        </p:nvSpPr>
        <p:spPr>
          <a:xfrm>
            <a:off x="4983480" y="3310200"/>
            <a:ext cx="3840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d6d7e"/>
                </a:solidFill>
                <a:effectLst/>
                <a:uFillTx/>
                <a:latin typeface="Courier New"/>
                <a:ea typeface="Courier New"/>
              </a:rPr>
              <a:t>utilisateurs/     ← vues étudiants &amp; profs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2"/>
          <p:cNvSpPr/>
          <p:nvPr/>
        </p:nvSpPr>
        <p:spPr>
          <a:xfrm>
            <a:off x="4983480" y="3639240"/>
            <a:ext cx="3840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d6d7e"/>
                </a:solidFill>
                <a:effectLst/>
                <a:uFillTx/>
                <a:latin typeface="Courier New"/>
                <a:ea typeface="Courier New"/>
              </a:rPr>
              <a:t>administrateur/   ← panneau admin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3"/>
          <p:cNvSpPr/>
          <p:nvPr/>
        </p:nvSpPr>
        <p:spPr>
          <a:xfrm>
            <a:off x="4983480" y="3968640"/>
            <a:ext cx="3840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d6d7e"/>
                </a:solidFill>
                <a:effectLst/>
                <a:uFillTx/>
                <a:latin typeface="Courier New"/>
                <a:ea typeface="Courier New"/>
              </a:rPr>
              <a:t>templates/  static/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4"/>
          <p:cNvSpPr/>
          <p:nvPr/>
        </p:nvSpPr>
        <p:spPr>
          <a:xfrm>
            <a:off x="4983480" y="4297680"/>
            <a:ext cx="3840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d6d7e"/>
                </a:solidFill>
                <a:effectLst/>
                <a:uFillTx/>
                <a:latin typeface="Courier New"/>
                <a:ea typeface="Courier New"/>
              </a:rPr>
              <a:t>manage.py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502920" y="20124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1abc9c"/>
                </a:solidFill>
                <a:effectLst/>
                <a:uFillTx/>
                <a:latin typeface="Calibri"/>
              </a:rPr>
              <a:t>DÉFIS TECHNIQUES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502920" y="5302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d40"/>
                </a:solidFill>
                <a:effectLst/>
                <a:uFillTx/>
                <a:latin typeface="Cambria"/>
                <a:ea typeface="Cambria"/>
              </a:rPr>
              <a:t>Problèmes rencontrés… et résolus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502920" y="1261800"/>
            <a:ext cx="8138160" cy="360"/>
          </a:xfrm>
          <a:prstGeom prst="line">
            <a:avLst/>
          </a:prstGeom>
          <a:ln w="9525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365760" y="1417320"/>
            <a:ext cx="841212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548640" y="14904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🔄  Dépendances circulaires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"/>
          <p:cNvSpPr/>
          <p:nvPr/>
        </p:nvSpPr>
        <p:spPr>
          <a:xfrm>
            <a:off x="3657600" y="149040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On a créé l'application core pour centraliser tous les modèles partagés. Résultat : plus aucun conflit entre les apps.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3520440" y="1526760"/>
            <a:ext cx="360" cy="594360"/>
          </a:xfrm>
          <a:prstGeom prst="line">
            <a:avLst/>
          </a:prstGeom>
          <a:ln w="12700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"/>
          <p:cNvSpPr/>
          <p:nvPr/>
        </p:nvSpPr>
        <p:spPr>
          <a:xfrm>
            <a:off x="365760" y="2313360"/>
            <a:ext cx="841212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548640" y="23864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🔐  Sécurisation des accès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3657600" y="238644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0" lang="en-US" sz="115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Implémentation rigoureuse des décorateurs Django afin de restreindre les routes critiques et de garantir que seul l'administrateur puisse accéder aux fonctions de supervision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3520440" y="2423160"/>
            <a:ext cx="360" cy="594360"/>
          </a:xfrm>
          <a:prstGeom prst="line">
            <a:avLst/>
          </a:prstGeom>
          <a:ln w="12700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1"/>
          <p:cNvSpPr/>
          <p:nvPr/>
        </p:nvSpPr>
        <p:spPr>
          <a:xfrm>
            <a:off x="365760" y="3209400"/>
            <a:ext cx="8412120" cy="8042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548640" y="32828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💬  Gestion des messages flash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3657600" y="328284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django.contrib.messages remplacé par une variable feedback locale injectée dans le contexte — plus simple à contrôler.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4"/>
          <p:cNvSpPr/>
          <p:nvPr/>
        </p:nvSpPr>
        <p:spPr>
          <a:xfrm>
            <a:off x="3520440" y="3319200"/>
            <a:ext cx="360" cy="594360"/>
          </a:xfrm>
          <a:prstGeom prst="line">
            <a:avLst/>
          </a:prstGeom>
          <a:ln w="12700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0" y="128016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▶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640080" y="246888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Démonstration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640080" y="329184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95a5a6"/>
                </a:solidFill>
                <a:effectLst/>
                <a:uFillTx/>
                <a:latin typeface="Calibri"/>
                <a:ea typeface="Calibri"/>
              </a:rPr>
              <a:t>Présentation en direct de la plateforme UniShare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502920" y="20124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1abc9c"/>
                </a:solidFill>
                <a:effectLst/>
                <a:uFillTx/>
                <a:latin typeface="Calibri"/>
              </a:rPr>
              <a:t>RÉSULTATS &amp; PERSPECTIVES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502920" y="5302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d40"/>
                </a:solidFill>
                <a:effectLst/>
                <a:uFillTx/>
                <a:latin typeface="Cambria"/>
                <a:ea typeface="Cambria"/>
              </a:rPr>
              <a:t>Ce qu'on a livré — et la suite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502920" y="1261800"/>
            <a:ext cx="8138160" cy="360"/>
          </a:xfrm>
          <a:prstGeom prst="line">
            <a:avLst/>
          </a:prstGeom>
          <a:ln w="9525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365760" y="1417320"/>
            <a:ext cx="8412120" cy="18741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548640" y="153612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✅  Ce qui fonctionne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594360" y="192024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· Authentification complète avec rôles (étudiant, enseignant, responsable, admin)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594360" y="222192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· Upload / téléchargement de ressources par module et par classe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594360" y="252360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· Tableau de bord admin avec gestion des inscriptions et statistiques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594360" y="282564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· Annonces de classe · Historique d'accès · Interface responsive Bootstrap 5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9"/>
          <p:cNvSpPr/>
          <p:nvPr/>
        </p:nvSpPr>
        <p:spPr>
          <a:xfrm>
            <a:off x="365760" y="3429000"/>
            <a:ext cx="8412120" cy="1371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548640" y="354780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🚀  La suite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1"/>
          <p:cNvSpPr/>
          <p:nvPr/>
        </p:nvSpPr>
        <p:spPr>
          <a:xfrm>
            <a:off x="594360" y="393192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🔔  Notifications par mail à chaque nouvelle ressource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2"/>
          <p:cNvSpPr/>
          <p:nvPr/>
        </p:nvSpPr>
        <p:spPr>
          <a:xfrm>
            <a:off x="594360" y="425196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⚡  API REST (Django REST Framework) pour exposer les données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594360" y="457200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⚛️  Front-end React pour une expérience plus dynamique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02920" y="20124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300" strike="noStrike" u="none">
                <a:solidFill>
                  <a:srgbClr val="1abc9c"/>
                </a:solidFill>
                <a:effectLst/>
                <a:uFillTx/>
                <a:latin typeface="Calibri"/>
              </a:rPr>
              <a:t>CONCLUSION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02920" y="5302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d40"/>
                </a:solidFill>
                <a:effectLst/>
                <a:uFillTx/>
                <a:latin typeface="Cambria"/>
                <a:ea typeface="Cambria"/>
              </a:rPr>
              <a:t>Ce qu'on retient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502920" y="1261800"/>
            <a:ext cx="8138160" cy="360"/>
          </a:xfrm>
          <a:prstGeom prst="line">
            <a:avLst/>
          </a:prstGeom>
          <a:ln w="9525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365760" y="1417320"/>
            <a:ext cx="420588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548640" y="158184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🏗️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1188720" y="158184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Architecture MVC en pratique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1188720" y="196596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Django nous a forcés à structurer proprement notre code dès le départ.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4800600" y="1417320"/>
            <a:ext cx="420588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4983480" y="158184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🤝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5623560" y="158184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Travail en équipe réel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5623560" y="196596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Git et GitHub ont rendu la collaboration fluide, avec branches et pull requests.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365760" y="3200400"/>
            <a:ext cx="420588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548640" y="336492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🧩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1188720" y="336492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Résolution de problèmes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1188720" y="374904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Les dépendances circulaires, la sécurité des sessions… autant de vraies difficultés surmontées.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5"/>
          <p:cNvSpPr/>
          <p:nvPr/>
        </p:nvSpPr>
        <p:spPr>
          <a:xfrm>
            <a:off x="4800600" y="3200400"/>
            <a:ext cx="420588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d8dc"/>
            </a:solidFill>
            <a:round/>
          </a:ln>
          <a:effectLst>
            <a:outerShdw algn="bl" blurRad="101520" dir="27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4983480" y="336492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📈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5623560" y="336492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Projet évolutif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8"/>
          <p:cNvSpPr/>
          <p:nvPr/>
        </p:nvSpPr>
        <p:spPr>
          <a:xfrm>
            <a:off x="5623560" y="374904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d6d7e"/>
                </a:solidFill>
                <a:effectLst/>
                <a:uFillTx/>
                <a:latin typeface="Calibri"/>
                <a:ea typeface="Calibri"/>
              </a:rPr>
              <a:t>L'app core et la modularité Django permettent d'ajouter REST ou React facilement demain.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640080" y="1188720"/>
            <a:ext cx="7863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Merci pour votre attention</a:t>
            </a:r>
            <a:endParaRPr b="0" lang="en-U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3200400" y="2148840"/>
            <a:ext cx="2743200" cy="360"/>
          </a:xfrm>
          <a:prstGeom prst="line">
            <a:avLst/>
          </a:prstGeom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640080" y="233172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95a5a6"/>
                </a:solidFill>
                <a:effectLst/>
                <a:uFillTx/>
                <a:latin typeface="Calibri"/>
                <a:ea typeface="Calibri"/>
              </a:rPr>
              <a:t>Des questions ?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640080" y="32918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95a5a6"/>
                </a:solidFill>
                <a:effectLst/>
                <a:uFillTx/>
                <a:latin typeface="Calibri"/>
                <a:ea typeface="Calibri"/>
              </a:rPr>
              <a:t>Mame Diarra Ngome  ·  Papa Ibrahima Diop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640080" y="370332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95a5a6"/>
                </a:solidFill>
                <a:effectLst/>
                <a:uFillTx/>
                <a:latin typeface="Calibri"/>
                <a:ea typeface="Calibri"/>
              </a:rPr>
              <a:t>Encadrant : Dr N. Bame  |  Section Informatique — L3  |  2025-2026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Application>LibreOffice/25.2.6.2$Linux_X86_64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2026-06-13T12:14:23Z</dcterms:created>
  <dc:creator>PptxGenJS</dc:creator>
  <dc:description/>
  <dc:language>en-US</dc:language>
  <cp:lastModifiedBy>Papa Ibrahima Diop</cp:lastModifiedBy>
  <dcterms:modified xsi:type="dcterms:W3CDTF">2026-06-14T16:58:07Z</dcterms:modified>
  <cp:revision>2</cp:revision>
  <dc:subject>PptxGenJS Presentation</dc:subject>
  <dc:title>UniShare – Projet Django 2025-2026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